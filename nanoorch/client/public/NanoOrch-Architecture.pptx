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2011680"/>
            <a:ext cx="94457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NanoOrch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371600" y="320040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 Orchestration Platform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374904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40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1737360" cy="320040"/>
          </a:xfrm>
          <a:prstGeom prst="roundRect">
            <a:avLst/>
          </a:prstGeom>
          <a:solidFill>
            <a:srgbClr val="1A1030"/>
          </a:solidFill>
          <a:ln w="9525">
            <a:solidFill>
              <a:srgbClr val="8B5CF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Multi-Tenant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40864" y="4572000"/>
            <a:ext cx="1737360" cy="320040"/>
          </a:xfrm>
          <a:prstGeom prst="roundRect">
            <a:avLst/>
          </a:prstGeom>
          <a:solidFill>
            <a:srgbClr val="1A1030"/>
          </a:solidFill>
          <a:ln w="9525">
            <a:solidFill>
              <a:srgbClr val="8B5CF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RBAC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24528" y="4572000"/>
            <a:ext cx="1737360" cy="320040"/>
          </a:xfrm>
          <a:prstGeom prst="roundRect">
            <a:avLst/>
          </a:prstGeom>
          <a:solidFill>
            <a:srgbClr val="1A1030"/>
          </a:solidFill>
          <a:ln w="9525">
            <a:solidFill>
              <a:srgbClr val="8B5CF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SSO (OIDC+SAML)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08192" y="4572000"/>
            <a:ext cx="1737360" cy="320040"/>
          </a:xfrm>
          <a:prstGeom prst="roundRect">
            <a:avLst/>
          </a:prstGeom>
          <a:solidFill>
            <a:srgbClr val="1A1030"/>
          </a:solidFill>
          <a:ln w="9525">
            <a:solidFill>
              <a:srgbClr val="8B5CF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Server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991856" y="4572000"/>
            <a:ext cx="1737360" cy="320040"/>
          </a:xfrm>
          <a:prstGeom prst="roundRect">
            <a:avLst/>
          </a:prstGeom>
          <a:solidFill>
            <a:srgbClr val="1A1030"/>
          </a:solidFill>
          <a:ln w="9525">
            <a:solidFill>
              <a:srgbClr val="8B5CF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Pipeline/DAG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875520" y="4572000"/>
            <a:ext cx="1737360" cy="320040"/>
          </a:xfrm>
          <a:prstGeom prst="roundRect">
            <a:avLst/>
          </a:prstGeom>
          <a:solidFill>
            <a:srgbClr val="1A1030"/>
          </a:solidFill>
          <a:ln w="9525">
            <a:solidFill>
              <a:srgbClr val="8B5CF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Self-Hosted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Self-hosted · Docker · PostgreSQL · Express.js · React · MCP Server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"/>
            <a:ext cx="1161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NanoOrch — System Architecture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502920"/>
            <a:ext cx="11612880" cy="1417320"/>
          </a:xfrm>
          <a:prstGeom prst="roundRect">
            <a:avLst/>
          </a:prstGeom>
          <a:solidFill>
            <a:srgbClr val="0D0A2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4B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&amp; IDENTITY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786384"/>
            <a:ext cx="2560320" cy="457200"/>
          </a:xfrm>
          <a:prstGeom prst="roundRect">
            <a:avLst/>
          </a:prstGeom>
          <a:solidFill>
            <a:srgbClr val="1A1030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0467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Browser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97840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+ Vite SPA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035808" y="850392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786384"/>
            <a:ext cx="2560320" cy="457200"/>
          </a:xfrm>
          <a:prstGeom prst="roundRect">
            <a:avLst/>
          </a:prstGeom>
          <a:solidFill>
            <a:srgbClr val="1A1030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80467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91840" y="97840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OIDC + SAML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870448" y="850392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786384"/>
            <a:ext cx="2560320" cy="457200"/>
          </a:xfrm>
          <a:prstGeom prst="roundRect">
            <a:avLst/>
          </a:prstGeom>
          <a:solidFill>
            <a:srgbClr val="1A1030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80467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3-Tier RBAC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26480" y="97840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 · Workspace Admin · Member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705088" y="850392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961120" y="786384"/>
            <a:ext cx="2560320" cy="457200"/>
          </a:xfrm>
          <a:prstGeom prst="roundRect">
            <a:avLst/>
          </a:prstGeom>
          <a:solidFill>
            <a:srgbClr val="1A1030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0" y="80467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Gateway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961120" y="97840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Auth · CSRF · Rate Limits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57200" y="13258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A5B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1005840" y="1307592"/>
            <a:ext cx="2560320" cy="457200"/>
          </a:xfrm>
          <a:prstGeom prst="roundRect">
            <a:avLst/>
          </a:prstGeom>
          <a:solidFill>
            <a:srgbClr val="0D0E2A"/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132588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Client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05840" y="149961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Desktop · Custom Agents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584448" y="13716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840480" y="1307592"/>
            <a:ext cx="2560320" cy="457200"/>
          </a:xfrm>
          <a:prstGeom prst="roundRect">
            <a:avLst/>
          </a:prstGeom>
          <a:solidFill>
            <a:srgbClr val="0D0E2A"/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0" y="132588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Bearer API Key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40480" y="149961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nano_mcp_... · SHA-256 hashed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419088" y="13716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75120" y="1307592"/>
            <a:ext cx="2560320" cy="457200"/>
          </a:xfrm>
          <a:prstGeom prst="roundRect">
            <a:avLst/>
          </a:prstGeom>
          <a:solidFill>
            <a:srgbClr val="0D0E2A"/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132588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Server /mcp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675120" y="149961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HTTP/SSE · 8 workspace tools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9601200" y="132588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list_orchestrators · list_agents · run_task · get_task_status</a:t>
            </a:r>
            <a:endParaRPr lang="en-US" sz="550" dirty="0"/>
          </a:p>
        </p:txBody>
      </p:sp>
      <p:sp>
        <p:nvSpPr>
          <p:cNvPr id="34" name="Text 32"/>
          <p:cNvSpPr/>
          <p:nvPr/>
        </p:nvSpPr>
        <p:spPr>
          <a:xfrm>
            <a:off x="9601200" y="152704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list_pending_approvals · approve_request · trigger_pipeline · fire_scheduled_job</a:t>
            </a:r>
            <a:endParaRPr lang="en-US" sz="550" dirty="0"/>
          </a:p>
        </p:txBody>
      </p:sp>
      <p:sp>
        <p:nvSpPr>
          <p:cNvPr id="35" name="Shape 33"/>
          <p:cNvSpPr/>
          <p:nvPr/>
        </p:nvSpPr>
        <p:spPr>
          <a:xfrm>
            <a:off x="274320" y="2011680"/>
            <a:ext cx="3749040" cy="2377440"/>
          </a:xfrm>
          <a:prstGeom prst="roundRect">
            <a:avLst/>
          </a:prstGeom>
          <a:solidFill>
            <a:srgbClr val="0A183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205740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ORCHESTRATION ENGINE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7200" y="2331720"/>
            <a:ext cx="3383280" cy="274320"/>
          </a:xfrm>
          <a:prstGeom prst="roundRect">
            <a:avLst/>
          </a:prstGeom>
          <a:solidFill>
            <a:srgbClr val="0A1830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234086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Executor · Parallel · Retry · Failover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57200" y="2660904"/>
            <a:ext cx="3383280" cy="274320"/>
          </a:xfrm>
          <a:prstGeom prst="roundRect">
            <a:avLst/>
          </a:prstGeom>
          <a:solidFill>
            <a:srgbClr val="0A1830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26700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/ DAG · Multi-step chaining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57200" y="2990088"/>
            <a:ext cx="3383280" cy="274320"/>
          </a:xfrm>
          <a:prstGeom prst="roundRect">
            <a:avLst/>
          </a:prstGeom>
          <a:solidFill>
            <a:srgbClr val="0A1830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29992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Cron Scheduler · Timezone-aware jobs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57200" y="3319272"/>
            <a:ext cx="3383280" cy="274320"/>
          </a:xfrm>
          <a:prstGeom prst="roundRect">
            <a:avLst/>
          </a:prstGeom>
          <a:solidFill>
            <a:srgbClr val="0A1830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332841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Triggers · GitHub · GitLab · Jira webhooks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57200" y="3648456"/>
            <a:ext cx="3383280" cy="274320"/>
          </a:xfrm>
          <a:prstGeom prst="roundRect">
            <a:avLst/>
          </a:prstGeom>
          <a:solidFill>
            <a:srgbClr val="0A1830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36576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Heartbeat Monitor · Per-agent health checks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57200" y="3977640"/>
            <a:ext cx="3383280" cy="274320"/>
          </a:xfrm>
          <a:prstGeom prst="roundRect">
            <a:avLst/>
          </a:prstGeom>
          <a:solidFill>
            <a:srgbClr val="0A1830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398678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 Gates · Human-in-the-loop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206240" y="2011680"/>
            <a:ext cx="3749040" cy="2377440"/>
          </a:xfrm>
          <a:prstGeom prst="roundRect">
            <a:avLst/>
          </a:prstGeom>
          <a:solidFill>
            <a:srgbClr val="05182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89120" y="205740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MULTI-TENANT WORKSPACES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389120" y="2331720"/>
            <a:ext cx="3383280" cy="274320"/>
          </a:xfrm>
          <a:prstGeom prst="roundRect">
            <a:avLst/>
          </a:prstGeom>
          <a:solidFill>
            <a:srgbClr val="051824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434840" y="234086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Orchestrators · Provider · Model · Concurrency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389120" y="2660904"/>
            <a:ext cx="3383280" cy="274320"/>
          </a:xfrm>
          <a:prstGeom prst="roundRect">
            <a:avLst/>
          </a:prstGeom>
          <a:solidFill>
            <a:srgbClr val="051824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434840" y="26700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 · Instructions · Tools · Memory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389120" y="2990088"/>
            <a:ext cx="3383280" cy="274320"/>
          </a:xfrm>
          <a:prstGeom prst="roundRect">
            <a:avLst/>
          </a:prstGeom>
          <a:solidFill>
            <a:srgbClr val="051824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434840" y="29992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Workspace Members · Isolated per tenant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389120" y="3319272"/>
            <a:ext cx="3383280" cy="274320"/>
          </a:xfrm>
          <a:prstGeom prst="roundRect">
            <a:avLst/>
          </a:prstGeom>
          <a:solidFill>
            <a:srgbClr val="051824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434840" y="332841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 Limits · Orchestrators · Agents · Channels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389120" y="3648456"/>
            <a:ext cx="3383280" cy="274320"/>
          </a:xfrm>
          <a:prstGeom prst="roundRect">
            <a:avLst/>
          </a:prstGeom>
          <a:solidFill>
            <a:srgbClr val="051824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434840" y="36576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Observability · Token usage · Utilization alerts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389120" y="3977640"/>
            <a:ext cx="3383280" cy="274320"/>
          </a:xfrm>
          <a:prstGeom prst="roundRect">
            <a:avLst/>
          </a:prstGeom>
          <a:solidFill>
            <a:srgbClr val="051824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434840" y="398678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Channel Delivery · Task · Heartbeat · Pipeline · Job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8138160" y="2011680"/>
            <a:ext cx="3749040" cy="1143000"/>
          </a:xfrm>
          <a:prstGeom prst="roundRect">
            <a:avLst/>
          </a:prstGeom>
          <a:solidFill>
            <a:srgbClr val="071E1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321040" y="205740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EE7B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TWO-WAY MESSAGING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8321040" y="23317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Slack · Inbound + Outbound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8321040" y="2596896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Teams · Inbound + Outbound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8321040" y="286207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Chat · Inbound + Outbound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8138160" y="3246120"/>
            <a:ext cx="3749040" cy="1143000"/>
          </a:xfrm>
          <a:prstGeom prst="roundRect">
            <a:avLst/>
          </a:prstGeom>
          <a:solidFill>
            <a:srgbClr val="1E0F04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321040" y="329184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DBA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INTEGRATIONS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8321040" y="35661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· GCP · Azure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8321040" y="3831336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· GitLab · Jira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274320" y="4526280"/>
            <a:ext cx="11612880" cy="594360"/>
          </a:xfrm>
          <a:prstGeom prst="roundRect">
            <a:avLst/>
          </a:prstGeom>
          <a:solidFill>
            <a:srgbClr val="1E0810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57200" y="4562856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9A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PROVIDERS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457200" y="4782312"/>
            <a:ext cx="2651760" cy="274320"/>
          </a:xfrm>
          <a:prstGeom prst="roundRect">
            <a:avLst/>
          </a:prstGeom>
          <a:solidFill>
            <a:srgbClr val="1E0810"/>
          </a:solidFill>
          <a:ln w="6350">
            <a:solidFill>
              <a:srgbClr val="EC489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02920" y="480060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OpenAI · GPT-4o · GPT-4o mini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3291840" y="4782312"/>
            <a:ext cx="2651760" cy="274320"/>
          </a:xfrm>
          <a:prstGeom prst="roundRect">
            <a:avLst/>
          </a:prstGeom>
          <a:solidFill>
            <a:srgbClr val="1E0810"/>
          </a:solidFill>
          <a:ln w="6350">
            <a:solidFill>
              <a:srgbClr val="EC4899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337560" y="480060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Anthropic · Claude 3.5 Sonnet+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6126480" y="4782312"/>
            <a:ext cx="2651760" cy="274320"/>
          </a:xfrm>
          <a:prstGeom prst="roundRect">
            <a:avLst/>
          </a:prstGeom>
          <a:solidFill>
            <a:srgbClr val="1E0810"/>
          </a:solidFill>
          <a:ln w="6350">
            <a:solidFill>
              <a:srgbClr val="EC489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172200" y="480060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Gemini · 2.0 Flash+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8961120" y="4782312"/>
            <a:ext cx="2651760" cy="274320"/>
          </a:xfrm>
          <a:prstGeom prst="roundRect">
            <a:avLst/>
          </a:prstGeom>
          <a:solidFill>
            <a:srgbClr val="1E0810"/>
          </a:solidFill>
          <a:ln w="6350">
            <a:solidFill>
              <a:srgbClr val="EC4899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006840" y="480060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Ollama · Self-hosted models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274320" y="5212080"/>
            <a:ext cx="11612880" cy="594360"/>
          </a:xfrm>
          <a:prstGeom prst="roundRect">
            <a:avLst/>
          </a:prstGeom>
          <a:solidFill>
            <a:srgbClr val="1A1500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57200" y="5248656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DE0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LAYER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457200" y="5468112"/>
            <a:ext cx="2651760" cy="274320"/>
          </a:xfrm>
          <a:prstGeom prst="roundRect">
            <a:avLst/>
          </a:prstGeom>
          <a:solidFill>
            <a:srgbClr val="1A1500"/>
          </a:solidFill>
          <a:ln w="6350">
            <a:solidFill>
              <a:srgbClr val="EAB30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02920" y="548640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· Primary data store · Migrations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3291840" y="5468112"/>
            <a:ext cx="2651760" cy="274320"/>
          </a:xfrm>
          <a:prstGeom prst="roundRect">
            <a:avLst/>
          </a:prstGeom>
          <a:solidFill>
            <a:srgbClr val="1A1500"/>
          </a:solidFill>
          <a:ln w="6350">
            <a:solidFill>
              <a:srgbClr val="EAB30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548640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Usage &amp; Cost · Per workspace · Per model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6126480" y="5468112"/>
            <a:ext cx="2651760" cy="274320"/>
          </a:xfrm>
          <a:prstGeom prst="roundRect">
            <a:avLst/>
          </a:prstGeom>
          <a:solidFill>
            <a:srgbClr val="1A1500"/>
          </a:solidFill>
          <a:ln w="6350">
            <a:solidFill>
              <a:srgbClr val="EAB30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172200" y="548640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Encrypted Credentials · AES-256-GCM · Docker Secrets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8961120" y="5468112"/>
            <a:ext cx="2651760" cy="274320"/>
          </a:xfrm>
          <a:prstGeom prst="roundRect">
            <a:avLst/>
          </a:prstGeom>
          <a:solidFill>
            <a:srgbClr val="1A1500"/>
          </a:solidFill>
          <a:ln w="6350">
            <a:solidFill>
              <a:srgbClr val="EAB30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006840" y="548640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Logs · Task logs · Delivery history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74320" y="6537960"/>
            <a:ext cx="1161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Self-hosted · Docker · PostgreSQL · Express.js · React · MCP Server  |  Production-ready · Multi-tenant · Enterprise RBAC · Remote AI Access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Server — Remote AI Access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1161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 Claude Desktop, custom agents, and AI tools directly to NanoOrch via the Model Context Protocol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51760" cy="1097280"/>
          </a:xfrm>
          <a:prstGeom prst="roundRect">
            <a:avLst/>
          </a:prstGeom>
          <a:solidFill>
            <a:srgbClr val="0D0E2A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Client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Desktop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Agents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MCP client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063240" y="1325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651760" cy="1097280"/>
          </a:xfrm>
          <a:prstGeom prst="roundRect">
            <a:avLst/>
          </a:prstGeom>
          <a:solidFill>
            <a:srgbClr val="0D0E2A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Bearer Token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600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nano_mcp_&lt;32hex&gt;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SHA-256 hashed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Workspace-scoped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89320" y="1325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217920" y="1005840"/>
            <a:ext cx="2651760" cy="1097280"/>
          </a:xfrm>
          <a:prstGeom prst="roundRect">
            <a:avLst/>
          </a:prstGeom>
          <a:solidFill>
            <a:srgbClr val="0D0E2A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Server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/mcp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1600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HTTP/SSE transport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Stateful sessions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Per-workspace isolation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915400" y="1325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144000" y="1005840"/>
            <a:ext cx="2651760" cy="1097280"/>
          </a:xfrm>
          <a:prstGeom prst="roundRect">
            <a:avLst/>
          </a:prstGeom>
          <a:solidFill>
            <a:srgbClr val="0A1830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8972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Orchestration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89720" y="1600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tasks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Manages agents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Pipelines &amp; jobs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74320" y="228600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B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Workspace Tools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2651760"/>
            <a:ext cx="2743200" cy="868680"/>
          </a:xfrm>
          <a:prstGeom prst="roundRect">
            <a:avLst/>
          </a:prstGeom>
          <a:solidFill>
            <a:srgbClr val="0D0E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743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list_orchestrators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09067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 all orchestrators — status, provider, and model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91840" y="2651760"/>
            <a:ext cx="2743200" cy="868680"/>
          </a:xfrm>
          <a:prstGeom prst="roundRect">
            <a:avLst/>
          </a:prstGeom>
          <a:solidFill>
            <a:srgbClr val="0D0E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2743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list_agents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83280" y="309067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 all agents — orchestrator, model, and intent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217920" y="2651760"/>
            <a:ext cx="2743200" cy="868680"/>
          </a:xfrm>
          <a:prstGeom prst="roundRect">
            <a:avLst/>
          </a:prstGeom>
          <a:solidFill>
            <a:srgbClr val="0D0E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2743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run_task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9360" y="309067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 a task to an agent and wait for the result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144000" y="2651760"/>
            <a:ext cx="2743200" cy="868680"/>
          </a:xfrm>
          <a:prstGeom prst="roundRect">
            <a:avLst/>
          </a:prstGeom>
          <a:solidFill>
            <a:srgbClr val="0D0E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35440" y="2743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get_task_status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235440" y="309067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current status, output, and logs for a task by ID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65760" y="3657600"/>
            <a:ext cx="2743200" cy="868680"/>
          </a:xfrm>
          <a:prstGeom prst="roundRect">
            <a:avLst/>
          </a:prstGeom>
          <a:solidFill>
            <a:srgbClr val="0D0E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749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list_pending_approvals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09651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 all pending approval requests for human review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91840" y="3657600"/>
            <a:ext cx="2743200" cy="868680"/>
          </a:xfrm>
          <a:prstGeom prst="roundRect">
            <a:avLst/>
          </a:prstGeom>
          <a:solidFill>
            <a:srgbClr val="0D0E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83280" y="3749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approve_request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383280" y="409651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 or reject a pending approval request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217920" y="3657600"/>
            <a:ext cx="2743200" cy="868680"/>
          </a:xfrm>
          <a:prstGeom prst="roundRect">
            <a:avLst/>
          </a:prstGeom>
          <a:solidFill>
            <a:srgbClr val="0D0E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3749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trigger_pipeline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09360" y="409651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Manually trigger a pipeline run by pipeline ID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9144000" y="3657600"/>
            <a:ext cx="2743200" cy="868680"/>
          </a:xfrm>
          <a:prstGeom prst="roundRect">
            <a:avLst/>
          </a:prstGeom>
          <a:solidFill>
            <a:srgbClr val="0D0E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235440" y="3749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fire_scheduled_job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235440" y="409651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Immediately fire a scheduled job, bypassing its cron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5B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Desktop Integration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74320" y="5029200"/>
            <a:ext cx="5303520" cy="1463040"/>
          </a:xfrm>
          <a:prstGeom prst="roundRect">
            <a:avLst/>
          </a:prstGeom>
          <a:solidFill>
            <a:srgbClr val="080C16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507492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"mcpServers":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"nanoorch":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"type": "http",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"url": "http://your-host/mcp",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"headers":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"Authorization": "Bearer nano_mcp_..."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94360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5B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Key Management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943600" y="5029200"/>
            <a:ext cx="5943600" cy="246888"/>
          </a:xfrm>
          <a:prstGeom prst="roundRect">
            <a:avLst/>
          </a:prstGeom>
          <a:solidFill>
            <a:srgbClr val="0D0E2A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35040" y="5047488"/>
            <a:ext cx="5760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Format: nano_mcp_&lt;32 hex chars&gt;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943600" y="5312664"/>
            <a:ext cx="5943600" cy="246888"/>
          </a:xfrm>
          <a:prstGeom prst="roundRect">
            <a:avLst/>
          </a:prstGeom>
          <a:solidFill>
            <a:srgbClr val="0D0E2A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35040" y="5330952"/>
            <a:ext cx="5760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Stored: SHA-256 hash only (never plaintext)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943600" y="5596128"/>
            <a:ext cx="5943600" cy="246888"/>
          </a:xfrm>
          <a:prstGeom prst="roundRect">
            <a:avLst/>
          </a:prstGeom>
          <a:solidFill>
            <a:srgbClr val="0D0E2A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035040" y="5614416"/>
            <a:ext cx="5760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Scope: Per workspace — one key per Claude instance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943600" y="5879592"/>
            <a:ext cx="5943600" cy="246888"/>
          </a:xfrm>
          <a:prstGeom prst="roundRect">
            <a:avLst/>
          </a:prstGeom>
          <a:solidFill>
            <a:srgbClr val="0D0E2A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035040" y="5897880"/>
            <a:ext cx="5760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Revoke: Instant revocation from MCP Settings page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943600" y="6163056"/>
            <a:ext cx="5943600" cy="246888"/>
          </a:xfrm>
          <a:prstGeom prst="roundRect">
            <a:avLst/>
          </a:prstGeom>
          <a:solidFill>
            <a:srgbClr val="0D0E2A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035040" y="6181344"/>
            <a:ext cx="5760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Endpoint: POST /api/workspaces/:id/mcp/keys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4320" y="6537960"/>
            <a:ext cx="1161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NanoOrch MCP Server · HTTP/SSE Transport · Workspace-scoped API Keys · 8 Tools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2026-03-22T06:01:31Z</dcterms:created>
  <dcterms:modified xsi:type="dcterms:W3CDTF">2026-03-22T06:01:31Z</dcterms:modified>
</cp:coreProperties>
</file>